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Barlow Condense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Condensed-bold.fntdata"/><Relationship Id="rId11" Type="http://schemas.openxmlformats.org/officeDocument/2006/relationships/slide" Target="slides/slide7.xml"/><Relationship Id="rId22" Type="http://schemas.openxmlformats.org/officeDocument/2006/relationships/font" Target="fonts/BarlowCondensed-boldItalic.fntdata"/><Relationship Id="rId10" Type="http://schemas.openxmlformats.org/officeDocument/2006/relationships/slide" Target="slides/slide6.xml"/><Relationship Id="rId21" Type="http://schemas.openxmlformats.org/officeDocument/2006/relationships/font" Target="fonts/BarlowCondensed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regular.fntdata"/><Relationship Id="rId14" Type="http://schemas.openxmlformats.org/officeDocument/2006/relationships/slide" Target="slides/slide10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slide" Target="slides/slide1.xml"/><Relationship Id="rId19" Type="http://schemas.openxmlformats.org/officeDocument/2006/relationships/font" Target="fonts/BarlowCondensed-regular.fntdata"/><Relationship Id="rId6" Type="http://schemas.openxmlformats.org/officeDocument/2006/relationships/slide" Target="slides/slide2.xml"/><Relationship Id="rId18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b63a26055_1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fb63a26055_1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201" name="Google Shape;201;g3fb63a26055_1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Road Safety Insights pitch deck. Original embedded images are preserved without source modification.</a:t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hyperlink" Target="http://drive.google.com/file/d/1_sQSNrxRiogUkEMlXjz8PLHcBTLTd_gZ/view" TargetMode="External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AF4F8"/>
            </a:gs>
            <a:gs pos="45000">
              <a:srgbClr val="F8FAFC"/>
            </a:gs>
            <a:gs pos="100000">
              <a:srgbClr val="FFFFFF"/>
            </a:gs>
          </a:gsLst>
          <a:lin ang="10800000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7343068"/>
            <a:ext cx="6953250" cy="12206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952500" y="1981200"/>
            <a:ext cx="8477250" cy="2762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6900"/>
              <a:buFont typeface="Barlow Condensed"/>
              <a:buNone/>
            </a:pPr>
            <a:r>
              <a:rPr b="1" lang="en-US" sz="690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ROAD SAFETY</a:t>
            </a:r>
            <a:endParaRPr/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6900"/>
              <a:buFont typeface="Barlow Condensed"/>
              <a:buNone/>
            </a:pPr>
            <a:r>
              <a:rPr b="1" lang="en-US" sz="690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INSIGHTS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90600" y="5286375"/>
            <a:ext cx="5943600" cy="59055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62050" y="5286375"/>
            <a:ext cx="5600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1" lang="en-US" sz="16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Preventing Accidents Before They Happen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00125" y="619125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800"/>
              <a:buFont typeface="Inter"/>
              <a:buNone/>
            </a:pPr>
            <a:r>
              <a:rPr b="0" lang="en-US" sz="180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Predictive road-risk intelligence for safer mobility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477500" y="1733550"/>
            <a:ext cx="6667500" cy="5524500"/>
          </a:xfrm>
          <a:prstGeom prst="roundRect">
            <a:avLst>
              <a:gd fmla="val 58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6625" y="2393156"/>
            <a:ext cx="5429250" cy="40719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1047750" y="8782050"/>
            <a:ext cx="85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650"/>
              <a:buFont typeface="Barlow Condensed"/>
              <a:buNone/>
            </a:pPr>
            <a:r>
              <a:rPr b="1" lang="en-US" sz="165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RSI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WHO WE ARE</a:t>
            </a: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819150" y="1304925"/>
            <a:ext cx="11239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"/>
          <p:cNvSpPr/>
          <p:nvPr/>
        </p:nvSpPr>
        <p:spPr>
          <a:xfrm>
            <a:off x="2190750" y="1047750"/>
            <a:ext cx="1200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575"/>
              <a:buFont typeface="Inter"/>
              <a:buNone/>
            </a:pPr>
            <a:r>
              <a:rPr b="0" lang="en-US" sz="15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A data-led approach to safer roads and lower mobility risk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6764000" y="6096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19150" y="1809750"/>
            <a:ext cx="10287000" cy="6858000"/>
          </a:xfrm>
          <a:prstGeom prst="roundRect">
            <a:avLst>
              <a:gd fmla="val 36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2132757"/>
            <a:ext cx="9715500" cy="5392837"/>
          </a:xfrm>
          <a:prstGeom prst="roundRect">
            <a:avLst>
              <a:gd fmla="val 3136" name="adj"/>
            </a:avLst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143000" y="7829550"/>
            <a:ext cx="2190750" cy="419100"/>
          </a:xfrm>
          <a:prstGeom prst="roundRect">
            <a:avLst>
              <a:gd fmla="val 50000" name="adj"/>
            </a:avLst>
          </a:prstGeom>
          <a:solidFill>
            <a:srgbClr val="EA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314450" y="7829550"/>
            <a:ext cx="1847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3B7A9E"/>
                </a:solidFill>
                <a:latin typeface="Inter"/>
                <a:ea typeface="Inter"/>
                <a:cs typeface="Inter"/>
                <a:sym typeface="Inter"/>
              </a:rPr>
              <a:t>WORKSHOP TEAM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1620500" y="2095500"/>
            <a:ext cx="54292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426"/>
              <a:buFont typeface="Barlow Condensed"/>
              <a:buNone/>
            </a:pPr>
            <a:r>
              <a:rPr b="1" lang="en-US" sz="3427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Turning accident data into preventive intelligence</a:t>
            </a:r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11620500" y="3829050"/>
            <a:ext cx="8191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11620500" y="4191000"/>
            <a:ext cx="538162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875"/>
              <a:buFont typeface="Inter"/>
              <a:buNone/>
            </a:pPr>
            <a:r>
              <a:rPr b="0" lang="en-US" sz="18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Road Safety Insights combines accident-data analysis with an in-car warning experience designed for drivers, fleets, and insurance partners.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1620500" y="6096000"/>
            <a:ext cx="53816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875"/>
              <a:buFont typeface="Inter"/>
              <a:buNone/>
            </a:pPr>
            <a:r>
              <a:rPr b="0" lang="en-US" sz="18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The team is preparing a real-world pilot in Crete, where tourism and fleet density create a demanding road environment.</a:t>
            </a:r>
            <a:endParaRPr/>
          </a:p>
        </p:txBody>
      </p:sp>
      <p:pic>
        <p:nvPicPr>
          <p:cNvPr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89601" y="7791450"/>
            <a:ext cx="2595798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STRATEGIC PARTNERS &amp; EARLY RECOGNITION</a:t>
            </a:r>
            <a:endParaRPr/>
          </a:p>
        </p:txBody>
      </p:sp>
      <p:cxnSp>
        <p:nvCxnSpPr>
          <p:cNvPr id="48" name="Google Shape;48;p5"/>
          <p:cNvCxnSpPr/>
          <p:nvPr/>
        </p:nvCxnSpPr>
        <p:spPr>
          <a:xfrm>
            <a:off x="819150" y="1304925"/>
            <a:ext cx="11239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5"/>
          <p:cNvSpPr/>
          <p:nvPr/>
        </p:nvSpPr>
        <p:spPr>
          <a:xfrm>
            <a:off x="2190750" y="1047750"/>
            <a:ext cx="1200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575"/>
              <a:buFont typeface="Inter"/>
              <a:buNone/>
            </a:pPr>
            <a:r>
              <a:rPr b="0" lang="en-US" sz="15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Momentum built through the Piraeus Startup Accelerator and POS4work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16764000" y="6096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819150" y="1943100"/>
            <a:ext cx="16649700" cy="6819900"/>
          </a:xfrm>
          <a:prstGeom prst="roundRect">
            <a:avLst>
              <a:gd fmla="val 39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6182" y="1943100"/>
            <a:ext cx="5154636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1333500" y="2381250"/>
            <a:ext cx="2571750" cy="438150"/>
          </a:xfrm>
          <a:prstGeom prst="roundRect">
            <a:avLst>
              <a:gd fmla="val 50000" name="adj"/>
            </a:avLst>
          </a:prstGeom>
          <a:solidFill>
            <a:srgbClr val="EA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504950" y="2381250"/>
            <a:ext cx="22288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3B7A9E"/>
                </a:solidFill>
                <a:latin typeface="Inter"/>
                <a:ea typeface="Inter"/>
                <a:cs typeface="Inter"/>
                <a:sym typeface="Inter"/>
              </a:rPr>
              <a:t>EARLY RECOGNITION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3144500" y="234315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4950"/>
              <a:buFont typeface="Barlow Condensed"/>
              <a:buNone/>
            </a:pPr>
            <a:r>
              <a:rPr b="1" lang="en-US" sz="4950">
                <a:solidFill>
                  <a:srgbClr val="FA8C1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€5,000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15316200" y="3086100"/>
            <a:ext cx="876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8590C"/>
                </a:solidFill>
                <a:latin typeface="Inter"/>
                <a:ea typeface="Inter"/>
                <a:cs typeface="Inter"/>
                <a:sym typeface="Inter"/>
              </a:rPr>
              <a:t>PRIZE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333500" y="3333750"/>
            <a:ext cx="8572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150"/>
              <a:buFont typeface="Barlow Condensed"/>
              <a:buNone/>
            </a:pPr>
            <a:r>
              <a:rPr b="1" lang="en-US" sz="31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Recognition through the Piraeus Startup Accelerator and POS4work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333500" y="4457700"/>
            <a:ext cx="9239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800"/>
              <a:buFont typeface="Inter"/>
              <a:buNone/>
            </a:pPr>
            <a:r>
              <a:rPr b="0" lang="en-US" sz="180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RSI participated in the Piraeus Startup Accelerator with POS4work and received a €5,000 award.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333500" y="5905500"/>
            <a:ext cx="6858000" cy="2000250"/>
          </a:xfrm>
          <a:prstGeom prst="roundRect">
            <a:avLst>
              <a:gd fmla="val 104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1833" y="6286500"/>
            <a:ext cx="2201333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10096500" y="5905500"/>
            <a:ext cx="6858000" cy="2000250"/>
          </a:xfrm>
          <a:prstGeom prst="roundRect">
            <a:avLst>
              <a:gd fmla="val 104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04737" y="6286500"/>
            <a:ext cx="3041527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IS RSI</a:t>
            </a:r>
            <a:endParaRPr/>
          </a:p>
        </p:txBody>
      </p:sp>
      <p:cxnSp>
        <p:nvCxnSpPr>
          <p:cNvPr id="69" name="Google Shape;69;p6"/>
          <p:cNvCxnSpPr/>
          <p:nvPr/>
        </p:nvCxnSpPr>
        <p:spPr>
          <a:xfrm>
            <a:off x="819150" y="1304925"/>
            <a:ext cx="11239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6"/>
          <p:cNvSpPr/>
          <p:nvPr/>
        </p:nvSpPr>
        <p:spPr>
          <a:xfrm>
            <a:off x="2190750" y="1047750"/>
            <a:ext cx="1200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575"/>
              <a:buFont typeface="Inter"/>
              <a:buNone/>
            </a:pPr>
            <a:r>
              <a:rPr b="0" lang="en-US" sz="15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Four capabilities connect accident data with preventive action</a:t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16764000" y="6096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819150" y="1924050"/>
            <a:ext cx="8001000" cy="333375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1085850" y="2171700"/>
            <a:ext cx="590550" cy="400050"/>
          </a:xfrm>
          <a:prstGeom prst="roundRect">
            <a:avLst>
              <a:gd fmla="val 50000" name="adj"/>
            </a:avLst>
          </a:prstGeom>
          <a:solidFill>
            <a:srgbClr val="FFF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1257300" y="2171700"/>
            <a:ext cx="247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E8590C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085850" y="280035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325"/>
              <a:buFont typeface="Barlow Condensed"/>
              <a:buNone/>
            </a:pPr>
            <a:r>
              <a:rPr b="1" lang="en-US" sz="2325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REAL ACCIDENT DATA MAPPING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1085850" y="3352800"/>
            <a:ext cx="74676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725"/>
              <a:buFont typeface="Inter"/>
              <a:buNone/>
            </a:pPr>
            <a:r>
              <a:rPr b="0" lang="en-US" sz="172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Maps and evaluates high-risk road segments using real accident data.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9467850" y="1924050"/>
            <a:ext cx="8001000" cy="333375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9734550" y="2171700"/>
            <a:ext cx="590550" cy="400050"/>
          </a:xfrm>
          <a:prstGeom prst="roundRect">
            <a:avLst>
              <a:gd fmla="val 50000" name="adj"/>
            </a:avLst>
          </a:prstGeom>
          <a:solidFill>
            <a:srgbClr val="FFF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9906000" y="2171700"/>
            <a:ext cx="247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E8590C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9734550" y="280035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325"/>
              <a:buFont typeface="Barlow Condensed"/>
              <a:buNone/>
            </a:pPr>
            <a:r>
              <a:rPr b="1" lang="en-US" sz="2325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FLEET OPTIMIZATION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9734550" y="3352800"/>
            <a:ext cx="74676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725"/>
              <a:buFont typeface="Inter"/>
              <a:buNone/>
            </a:pPr>
            <a:r>
              <a:rPr b="0" lang="en-US" sz="172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Supports accident prevention while reducing vehicle downtime and fleet costs.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819150" y="5619750"/>
            <a:ext cx="8001000" cy="333375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085850" y="5867400"/>
            <a:ext cx="590550" cy="400050"/>
          </a:xfrm>
          <a:prstGeom prst="roundRect">
            <a:avLst>
              <a:gd fmla="val 50000" name="adj"/>
            </a:avLst>
          </a:prstGeom>
          <a:solidFill>
            <a:srgbClr val="FFF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257300" y="5867400"/>
            <a:ext cx="247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E8590C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085850" y="649605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325"/>
              <a:buFont typeface="Barlow Condensed"/>
              <a:buNone/>
            </a:pPr>
            <a:r>
              <a:rPr b="1" lang="en-US" sz="2325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PREDICTIVE INSIGHTS</a:t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1085850" y="7048500"/>
            <a:ext cx="74676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725"/>
              <a:buFont typeface="Inter"/>
              <a:buNone/>
            </a:pPr>
            <a:r>
              <a:rPr b="0" lang="en-US" sz="172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Transforms historical accident data into preventive intelligence for future risk.</a:t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9467850" y="5619750"/>
            <a:ext cx="8001000" cy="333375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9734550" y="5867400"/>
            <a:ext cx="590550" cy="400050"/>
          </a:xfrm>
          <a:prstGeom prst="roundRect">
            <a:avLst>
              <a:gd fmla="val 50000" name="adj"/>
            </a:avLst>
          </a:prstGeom>
          <a:solidFill>
            <a:srgbClr val="FFF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9906000" y="5867400"/>
            <a:ext cx="247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E8590C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9734550" y="649605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325"/>
              <a:buFont typeface="Barlow Condensed"/>
              <a:buNone/>
            </a:pPr>
            <a:r>
              <a:rPr b="1" lang="en-US" sz="2325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REAL-TIME ALERTS</a:t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9734550" y="7048500"/>
            <a:ext cx="74676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725"/>
              <a:buFont typeface="Inter"/>
              <a:buNone/>
            </a:pPr>
            <a:r>
              <a:rPr b="0" lang="en-US" sz="172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Delivers push notifications through interactive driver overlays when risk rises.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PLATFORM &amp; VIDEO SHOWCASE</a:t>
            </a:r>
            <a:endParaRPr/>
          </a:p>
        </p:txBody>
      </p:sp>
      <p:cxnSp>
        <p:nvCxnSpPr>
          <p:cNvPr id="98" name="Google Shape;98;p7"/>
          <p:cNvCxnSpPr/>
          <p:nvPr/>
        </p:nvCxnSpPr>
        <p:spPr>
          <a:xfrm>
            <a:off x="819150" y="1304925"/>
            <a:ext cx="11239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7"/>
          <p:cNvSpPr/>
          <p:nvPr/>
        </p:nvSpPr>
        <p:spPr>
          <a:xfrm>
            <a:off x="2190750" y="1047750"/>
            <a:ext cx="1200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575"/>
              <a:buFont typeface="Inter"/>
              <a:buNone/>
            </a:pPr>
            <a:r>
              <a:rPr b="0" lang="en-US" sz="15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The driver experience brings road risk into a clear, timely interface</a:t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6764000" y="6096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05</a:t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819150" y="1847850"/>
            <a:ext cx="11525250" cy="7086600"/>
          </a:xfrm>
          <a:prstGeom prst="roundRect">
            <a:avLst>
              <a:gd fmla="val 40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15" l="0" r="0" t="15"/>
          <a:stretch/>
        </p:blipFill>
        <p:spPr>
          <a:xfrm>
            <a:off x="1162050" y="2190750"/>
            <a:ext cx="10839450" cy="6096000"/>
          </a:xfrm>
          <a:prstGeom prst="roundRect">
            <a:avLst>
              <a:gd fmla="val 3125" name="adj"/>
            </a:avLst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1676400" y="2686050"/>
            <a:ext cx="2857500" cy="43815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847850" y="2686050"/>
            <a:ext cx="25146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 SHOWCASE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819150" y="4343400"/>
            <a:ext cx="4476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Barlow Condensed"/>
              <a:buNone/>
            </a:pPr>
            <a:r>
              <a:rPr b="1" lang="en-US" sz="43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REAL-TIME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Barlow Condensed"/>
              <a:buNone/>
            </a:pPr>
            <a:r>
              <a:rPr b="1" lang="en-US" sz="43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DRIVER UI</a:t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2954000" y="2076450"/>
            <a:ext cx="4514850" cy="2857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13277850" y="2381250"/>
            <a:ext cx="2381250" cy="400050"/>
          </a:xfrm>
          <a:prstGeom prst="roundRect">
            <a:avLst>
              <a:gd fmla="val 50000" name="adj"/>
            </a:avLst>
          </a:prstGeom>
          <a:solidFill>
            <a:srgbClr val="EA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3449300" y="2381250"/>
            <a:ext cx="2038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125"/>
              <a:buFont typeface="Inter"/>
              <a:buNone/>
            </a:pPr>
            <a:r>
              <a:rPr b="1" lang="en-US" sz="1125">
                <a:solidFill>
                  <a:srgbClr val="3B7A9E"/>
                </a:solidFill>
                <a:latin typeface="Inter"/>
                <a:ea typeface="Inter"/>
                <a:cs typeface="Inter"/>
                <a:sym typeface="Inter"/>
              </a:rPr>
              <a:t>DRIVER EXPERIENCE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3277850" y="3143250"/>
            <a:ext cx="361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Barlow Condensed"/>
              <a:buNone/>
            </a:pPr>
            <a:r>
              <a:rPr b="1" lang="en-US" sz="25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Real-time driver UI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3277850" y="3867150"/>
            <a:ext cx="361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b="0"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Clear alerts surface the right hazard information without obscuring the route.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2954000" y="5314950"/>
            <a:ext cx="4514850" cy="2857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3277850" y="5619750"/>
            <a:ext cx="2266950" cy="400050"/>
          </a:xfrm>
          <a:prstGeom prst="roundRect">
            <a:avLst>
              <a:gd fmla="val 50000" name="adj"/>
            </a:avLst>
          </a:prstGeom>
          <a:solidFill>
            <a:srgbClr val="FFF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3449300" y="5619750"/>
            <a:ext cx="1924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125"/>
              <a:buFont typeface="Inter"/>
              <a:buNone/>
            </a:pPr>
            <a:r>
              <a:rPr b="1" lang="en-US" sz="1125">
                <a:solidFill>
                  <a:srgbClr val="E8590C"/>
                </a:solidFill>
                <a:latin typeface="Inter"/>
                <a:ea typeface="Inter"/>
                <a:cs typeface="Inter"/>
                <a:sym typeface="Inter"/>
              </a:rPr>
              <a:t>HAZARD DETECTION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3277850" y="6381750"/>
            <a:ext cx="361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Barlow Condensed"/>
              <a:buNone/>
            </a:pPr>
            <a:r>
              <a:rPr b="1" lang="en-US" sz="25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Interactive risk map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13277850" y="7105650"/>
            <a:ext cx="361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b="0"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The map links historical accident patterns with driver-facing warnings.</a:t>
            </a:r>
            <a:endParaRPr/>
          </a:p>
        </p:txBody>
      </p:sp>
      <p:pic>
        <p:nvPicPr>
          <p:cNvPr id="116" name="Google Shape;116;p7" title="RSI_APP_ETHINKI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0963" y="3193340"/>
            <a:ext cx="7061074" cy="4090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TRACTION &amp; SOCIAL MEDIA PRESENCE</a:t>
            </a:r>
            <a:endParaRPr/>
          </a:p>
        </p:txBody>
      </p:sp>
      <p:cxnSp>
        <p:nvCxnSpPr>
          <p:cNvPr id="123" name="Google Shape;123;p8"/>
          <p:cNvCxnSpPr/>
          <p:nvPr/>
        </p:nvCxnSpPr>
        <p:spPr>
          <a:xfrm>
            <a:off x="819150" y="1304925"/>
            <a:ext cx="11239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8"/>
          <p:cNvSpPr/>
          <p:nvPr/>
        </p:nvSpPr>
        <p:spPr>
          <a:xfrm>
            <a:off x="2190750" y="1047750"/>
            <a:ext cx="1200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575"/>
              <a:buFont typeface="Inter"/>
              <a:buNone/>
            </a:pPr>
            <a:r>
              <a:rPr b="0" lang="en-US" sz="15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Organic reach and national media exposure demonstrate early public interest</a:t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16764000" y="6096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06</a:t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819150" y="1962150"/>
            <a:ext cx="7239000" cy="820860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10496550" y="1153488"/>
            <a:ext cx="53340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25"/>
              <a:buFont typeface="Barlow Condensed"/>
              <a:buNone/>
            </a:pPr>
            <a:r>
              <a:rPr b="1" lang="en-US" sz="2625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PRESS &amp; INTERVIEWS / 215.000 ORGANIC VIEWS WITH </a:t>
            </a:r>
            <a:r>
              <a:rPr b="1" lang="en-US" sz="2625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CONTINUED</a:t>
            </a:r>
            <a:r>
              <a:rPr b="1" lang="en-US" sz="2625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GROWTH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858250" y="2000250"/>
            <a:ext cx="8610600" cy="8170500"/>
          </a:xfrm>
          <a:prstGeom prst="roundRect">
            <a:avLst>
              <a:gd fmla="val 113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12354000" y="2294563"/>
            <a:ext cx="1619100" cy="362100"/>
          </a:xfrm>
          <a:prstGeom prst="roundRect">
            <a:avLst>
              <a:gd fmla="val 50000" name="adj"/>
            </a:avLst>
          </a:prstGeom>
          <a:solidFill>
            <a:srgbClr val="EA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12525300" y="2294550"/>
            <a:ext cx="1276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3B7A9E"/>
                </a:solidFill>
                <a:latin typeface="Inter"/>
                <a:ea typeface="Inter"/>
                <a:cs typeface="Inter"/>
                <a:sym typeface="Inter"/>
              </a:rPr>
              <a:t>SOCIAL MEDIA</a:t>
            </a:r>
            <a:r>
              <a:rPr b="1" lang="en-US" sz="1050">
                <a:solidFill>
                  <a:srgbClr val="3B7A9E"/>
                </a:solidFill>
                <a:latin typeface="Inter"/>
                <a:ea typeface="Inter"/>
                <a:cs typeface="Inter"/>
                <a:sym typeface="Inter"/>
              </a:rPr>
              <a:t> PRESENCE</a:t>
            </a:r>
            <a:endParaRPr/>
          </a:p>
        </p:txBody>
      </p:sp>
      <p:pic>
        <p:nvPicPr>
          <p:cNvPr id="131" name="Google Shape;13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4050" y="3622511"/>
            <a:ext cx="7239000" cy="448556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</p:pic>
      <p:pic>
        <p:nvPicPr>
          <p:cNvPr id="132" name="Google Shape;132;p8" title="Στιγμιότυπο οθόνης 2026-09-15 1645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218" y="2109293"/>
            <a:ext cx="6035524" cy="195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 title="Στιγμιότυπο οθόνης 2026-09-15 1647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8950" y="4129750"/>
            <a:ext cx="5504075" cy="3106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200"/>
              </a:srgbClr>
            </a:outerShdw>
          </a:effectLst>
        </p:spPr>
      </p:pic>
      <p:pic>
        <p:nvPicPr>
          <p:cNvPr id="134" name="Google Shape;134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8950" y="6726146"/>
            <a:ext cx="5903876" cy="33118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WHERE DO WE START AND WHY</a:t>
            </a:r>
            <a:endParaRPr/>
          </a:p>
        </p:txBody>
      </p:sp>
      <p:cxnSp>
        <p:nvCxnSpPr>
          <p:cNvPr id="141" name="Google Shape;141;p9"/>
          <p:cNvCxnSpPr/>
          <p:nvPr/>
        </p:nvCxnSpPr>
        <p:spPr>
          <a:xfrm>
            <a:off x="819150" y="1304925"/>
            <a:ext cx="11239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9"/>
          <p:cNvSpPr/>
          <p:nvPr/>
        </p:nvSpPr>
        <p:spPr>
          <a:xfrm>
            <a:off x="2190750" y="1047750"/>
            <a:ext cx="1200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575"/>
              <a:buFont typeface="Inter"/>
              <a:buNone/>
            </a:pPr>
            <a:r>
              <a:rPr b="0" lang="en-US" sz="15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Crete combines fleet demand, road complexity, and real-world visibility</a:t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16764000" y="6096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07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819150" y="1809750"/>
            <a:ext cx="16649700" cy="1714500"/>
          </a:xfrm>
          <a:prstGeom prst="roundRect">
            <a:avLst>
              <a:gd fmla="val 144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1238250" y="2209800"/>
            <a:ext cx="2190750" cy="419100"/>
          </a:xfrm>
          <a:prstGeom prst="roundRect">
            <a:avLst>
              <a:gd fmla="val 50000" name="adj"/>
            </a:avLst>
          </a:prstGeom>
          <a:solidFill>
            <a:srgbClr val="FFF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409700" y="2209800"/>
            <a:ext cx="1847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8590C"/>
                </a:solidFill>
                <a:latin typeface="Inter"/>
                <a:ea typeface="Inter"/>
                <a:cs typeface="Inter"/>
                <a:sym typeface="Inter"/>
              </a:rPr>
              <a:t>PILOT LOCATION</a:t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1238250" y="2686050"/>
            <a:ext cx="4095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125"/>
              <a:buFont typeface="Barlow Condensed"/>
              <a:buNone/>
            </a:pPr>
            <a:r>
              <a:rPr b="1" lang="en-US" sz="4125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CRETE</a:t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5476875" y="2352675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950"/>
              <a:buFont typeface="Inter"/>
              <a:buNone/>
            </a:pPr>
            <a:r>
              <a:rPr b="0" lang="en-US" sz="19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A focused test market for predictive risk detection and driver alerts</a:t>
            </a:r>
            <a:endParaRPr/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28421" y="2038350"/>
            <a:ext cx="2927907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/>
          <p:nvPr/>
        </p:nvSpPr>
        <p:spPr>
          <a:xfrm>
            <a:off x="819150" y="4000500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1104900" y="4305300"/>
            <a:ext cx="552450" cy="55245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1276350" y="4305300"/>
            <a:ext cx="209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</a:t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1924050" y="4286250"/>
            <a:ext cx="6191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TOURISM &amp; SEASONAL PEAKS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1924050" y="4991100"/>
            <a:ext cx="6191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b="0"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High vehicle density and fluctuating flows create a clear need for timely road-risk information.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9467850" y="4000500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9753600" y="4305300"/>
            <a:ext cx="552450" cy="55245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9925050" y="4305300"/>
            <a:ext cx="209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0572750" y="4286250"/>
            <a:ext cx="6191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FLEET DENSITY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10572750" y="4991100"/>
            <a:ext cx="6191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b="0"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About 265 active rent-a-car companies provide a concentrated route to pilot distribution.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819150" y="6705600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1104900" y="7010400"/>
            <a:ext cx="552450" cy="55245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276350" y="7010400"/>
            <a:ext cx="209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1924050" y="6991350"/>
            <a:ext cx="6191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INFRASTRUCTURE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1924050" y="7696200"/>
            <a:ext cx="6191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b="0"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A large, complex network includes challenging road segments and varied driving conditions.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9467850" y="6705600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9753600" y="7010400"/>
            <a:ext cx="552450" cy="55245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9925050" y="7010400"/>
            <a:ext cx="209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10572750" y="6991350"/>
            <a:ext cx="6191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HIGH VISIBILITY</a:t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0572750" y="7696200"/>
            <a:ext cx="6191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b="0"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The island provides a strong real-world testing ground for predictive risk detection.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WE SEEK</a:t>
            </a:r>
            <a:endParaRPr/>
          </a:p>
        </p:txBody>
      </p:sp>
      <p:cxnSp>
        <p:nvCxnSpPr>
          <p:cNvPr id="176" name="Google Shape;176;p10"/>
          <p:cNvCxnSpPr/>
          <p:nvPr/>
        </p:nvCxnSpPr>
        <p:spPr>
          <a:xfrm>
            <a:off x="819150" y="1304925"/>
            <a:ext cx="11239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0"/>
          <p:cNvSpPr/>
          <p:nvPr/>
        </p:nvSpPr>
        <p:spPr>
          <a:xfrm>
            <a:off x="2190750" y="1047750"/>
            <a:ext cx="1200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575"/>
              <a:buFont typeface="Inter"/>
              <a:buNone/>
            </a:pPr>
            <a:r>
              <a:rPr b="0" lang="en-US" sz="15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A partnership path from a focused pilot to a nationwide safety service</a:t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16764000" y="6096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08</a:t>
            </a:r>
            <a:endParaRPr/>
          </a:p>
        </p:txBody>
      </p:sp>
      <p:cxnSp>
        <p:nvCxnSpPr>
          <p:cNvPr id="179" name="Google Shape;179;p10"/>
          <p:cNvCxnSpPr/>
          <p:nvPr/>
        </p:nvCxnSpPr>
        <p:spPr>
          <a:xfrm>
            <a:off x="1619250" y="3067050"/>
            <a:ext cx="14859000" cy="0"/>
          </a:xfrm>
          <a:prstGeom prst="straightConnector1">
            <a:avLst/>
          </a:prstGeom>
          <a:noFill/>
          <a:ln cap="flat" cmpd="sng" w="38100">
            <a:solidFill>
              <a:srgbClr val="F9C18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0"/>
          <p:cNvSpPr/>
          <p:nvPr/>
        </p:nvSpPr>
        <p:spPr>
          <a:xfrm>
            <a:off x="819150" y="2381250"/>
            <a:ext cx="4762500" cy="5429250"/>
          </a:xfrm>
          <a:prstGeom prst="roundRect">
            <a:avLst>
              <a:gd fmla="val 56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1162050" y="2724150"/>
            <a:ext cx="723900" cy="4953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1333500" y="2724150"/>
            <a:ext cx="381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Barlow Condensed"/>
              <a:buNone/>
            </a:pPr>
            <a:r>
              <a:rPr b="1" lang="en-US" sz="16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162050" y="363855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000"/>
              <a:buFont typeface="Barlow Condensed"/>
              <a:buNone/>
            </a:pPr>
            <a:r>
              <a:rPr b="1" lang="en-US" sz="300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PILOT</a:t>
            </a:r>
            <a:endParaRPr/>
          </a:p>
        </p:txBody>
      </p:sp>
      <p:cxnSp>
        <p:nvCxnSpPr>
          <p:cNvPr id="184" name="Google Shape;184;p10"/>
          <p:cNvCxnSpPr/>
          <p:nvPr/>
        </p:nvCxnSpPr>
        <p:spPr>
          <a:xfrm>
            <a:off x="1162050" y="4781550"/>
            <a:ext cx="933450" cy="0"/>
          </a:xfrm>
          <a:prstGeom prst="straightConnector1">
            <a:avLst/>
          </a:prstGeom>
          <a:noFill/>
          <a:ln cap="flat" cmpd="sng" w="381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>
            <a:off x="1162050" y="5181600"/>
            <a:ext cx="40005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800"/>
              <a:buFont typeface="Inter"/>
              <a:buNone/>
            </a:pPr>
            <a:r>
              <a:rPr b="0" lang="en-US" sz="180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Road accident data access and rent-a-car marketing affiliations in Crete.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6324600" y="2857500"/>
            <a:ext cx="4762500" cy="5429250"/>
          </a:xfrm>
          <a:prstGeom prst="roundRect">
            <a:avLst>
              <a:gd fmla="val 56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667500" y="3200400"/>
            <a:ext cx="723900" cy="4953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838950" y="3200400"/>
            <a:ext cx="381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Barlow Condensed"/>
              <a:buNone/>
            </a:pPr>
            <a:r>
              <a:rPr b="1" lang="en-US" sz="16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6667500" y="411480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000"/>
              <a:buFont typeface="Barlow Condensed"/>
              <a:buNone/>
            </a:pPr>
            <a:r>
              <a:rPr b="1" lang="en-US" sz="300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SCALE</a:t>
            </a:r>
            <a:endParaRPr/>
          </a:p>
        </p:txBody>
      </p:sp>
      <p:cxnSp>
        <p:nvCxnSpPr>
          <p:cNvPr id="190" name="Google Shape;190;p10"/>
          <p:cNvCxnSpPr/>
          <p:nvPr/>
        </p:nvCxnSpPr>
        <p:spPr>
          <a:xfrm>
            <a:off x="6667500" y="5257800"/>
            <a:ext cx="933450" cy="0"/>
          </a:xfrm>
          <a:prstGeom prst="straightConnector1">
            <a:avLst/>
          </a:prstGeom>
          <a:noFill/>
          <a:ln cap="flat" cmpd="sng" w="381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0"/>
          <p:cNvSpPr/>
          <p:nvPr/>
        </p:nvSpPr>
        <p:spPr>
          <a:xfrm>
            <a:off x="6667500" y="5657850"/>
            <a:ext cx="40005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800"/>
              <a:buFont typeface="Inter"/>
              <a:buNone/>
            </a:pPr>
            <a:r>
              <a:rPr b="0" lang="en-US" sz="180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Nationwide expansion of predictive hazard modeling using validated datasets.</a:t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11830050" y="3333750"/>
            <a:ext cx="4762500" cy="5429250"/>
          </a:xfrm>
          <a:prstGeom prst="roundRect">
            <a:avLst>
              <a:gd fmla="val 56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12172950" y="3676650"/>
            <a:ext cx="723900" cy="4953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12344400" y="3676650"/>
            <a:ext cx="381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Barlow Condensed"/>
              <a:buNone/>
            </a:pPr>
            <a:r>
              <a:rPr b="1" lang="en-US" sz="16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12172950" y="459105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000"/>
              <a:buFont typeface="Barlow Condensed"/>
              <a:buNone/>
            </a:pPr>
            <a:r>
              <a:rPr b="1" lang="en-US" sz="300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STRATEGIC PARTNERSHIP</a:t>
            </a:r>
            <a:endParaRPr/>
          </a:p>
        </p:txBody>
      </p:sp>
      <p:cxnSp>
        <p:nvCxnSpPr>
          <p:cNvPr id="196" name="Google Shape;196;p10"/>
          <p:cNvCxnSpPr/>
          <p:nvPr/>
        </p:nvCxnSpPr>
        <p:spPr>
          <a:xfrm>
            <a:off x="12172950" y="5734050"/>
            <a:ext cx="933450" cy="0"/>
          </a:xfrm>
          <a:prstGeom prst="straightConnector1">
            <a:avLst/>
          </a:prstGeom>
          <a:noFill/>
          <a:ln cap="flat" cmpd="sng" w="381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0"/>
          <p:cNvSpPr/>
          <p:nvPr/>
        </p:nvSpPr>
        <p:spPr>
          <a:xfrm>
            <a:off x="12172950" y="6134100"/>
            <a:ext cx="40005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800"/>
              <a:buFont typeface="Inter"/>
              <a:buNone/>
            </a:pPr>
            <a:r>
              <a:rPr b="0" lang="en-US" sz="180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Integration of RSI as an added-value safety service for insurance policyholders.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Agenda – Road Safety Insights x Ethniki Asfalistiki</a:t>
            </a:r>
            <a:endParaRPr/>
          </a:p>
        </p:txBody>
      </p:sp>
      <p:cxnSp>
        <p:nvCxnSpPr>
          <p:cNvPr id="204" name="Google Shape;204;p11"/>
          <p:cNvCxnSpPr/>
          <p:nvPr/>
        </p:nvCxnSpPr>
        <p:spPr>
          <a:xfrm>
            <a:off x="819150" y="1304925"/>
            <a:ext cx="112410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1"/>
          <p:cNvSpPr/>
          <p:nvPr/>
        </p:nvSpPr>
        <p:spPr>
          <a:xfrm>
            <a:off x="16764000" y="609600"/>
            <a:ext cx="705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07</a:t>
            </a:r>
            <a:endParaRPr/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4221" y="300038"/>
            <a:ext cx="2927908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/>
          <p:nvPr/>
        </p:nvSpPr>
        <p:spPr>
          <a:xfrm>
            <a:off x="819150" y="1908225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1104900" y="2213025"/>
            <a:ext cx="552600" cy="5526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1276350" y="2213025"/>
            <a:ext cx="209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1924050" y="2193975"/>
            <a:ext cx="6191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Percentage of road traffic accidents you have access to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1924050" y="2898825"/>
            <a:ext cx="6191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What percentage of road traffic accidents do you have available data or relevant information on?</a:t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9468000" y="1908225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9753600" y="2174925"/>
            <a:ext cx="552600" cy="5526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9925050" y="2174925"/>
            <a:ext cx="209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II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10572900" y="2193975"/>
            <a:ext cx="6191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available per accident and data format</a:t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10572900" y="2898825"/>
            <a:ext cx="6191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33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Char char="●"/>
            </a:pPr>
            <a:r>
              <a:rPr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What data do you have available for each accident?</a:t>
            </a:r>
            <a:endParaRPr sz="1650">
              <a:solidFill>
                <a:srgbClr val="4A6B8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33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Char char="●"/>
            </a:pPr>
            <a:r>
              <a:rPr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In what format is this data stored and made available?</a:t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819150" y="4613325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1104900" y="4918125"/>
            <a:ext cx="552600" cy="5526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190550" y="4880025"/>
            <a:ext cx="3813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III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1924050" y="4899075"/>
            <a:ext cx="6191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transfer process and companies involved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1924050" y="5603925"/>
            <a:ext cx="6191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33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Char char="●"/>
            </a:pPr>
            <a:r>
              <a:rPr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What process is currently used for data transfer?</a:t>
            </a:r>
            <a:endParaRPr sz="1650">
              <a:solidFill>
                <a:srgbClr val="4A6B8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33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Char char="●"/>
            </a:pPr>
            <a:r>
              <a:rPr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Through which companies or partners is the transfer or exchange of data currently carried out?</a:t>
            </a:r>
            <a:endParaRPr sz="1650">
              <a:solidFill>
                <a:srgbClr val="4A6B8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9468000" y="4613325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9753600" y="4880025"/>
            <a:ext cx="552600" cy="5526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9925050" y="4880025"/>
            <a:ext cx="209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</a:t>
            </a: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10572900" y="4899075"/>
            <a:ext cx="6191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Marketing Affiliations / Partnerships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10572900" y="5603925"/>
            <a:ext cx="6191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How do you currently manage marketing affiliations or similar commercial partnerships with other companies?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819150" y="7424675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1104900" y="7729475"/>
            <a:ext cx="552600" cy="5526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276350" y="7729475"/>
            <a:ext cx="209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924050" y="7710425"/>
            <a:ext cx="6191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Credit Score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1924050" y="8415275"/>
            <a:ext cx="6191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If you are already developing a Credit Score, what data do you use to create and evaluate it?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9468000" y="7424675"/>
            <a:ext cx="8001000" cy="224790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9753750" y="7729475"/>
            <a:ext cx="552600" cy="552600"/>
          </a:xfrm>
          <a:prstGeom prst="roundRect">
            <a:avLst>
              <a:gd fmla="val 50000" name="adj"/>
            </a:avLst>
          </a:prstGeom>
          <a:solidFill>
            <a:srgbClr val="FF9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9925200" y="7729475"/>
            <a:ext cx="209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Barlow Condensed"/>
              <a:buNone/>
            </a:pPr>
            <a:r>
              <a:rPr b="1" lang="en-US" sz="18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VI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10572900" y="7710425"/>
            <a:ext cx="6191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Barlow Condensed"/>
              <a:buNone/>
            </a:pPr>
            <a:r>
              <a:rPr b="1" lang="en-US" sz="22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Pilot Affiliation for Crete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10572900" y="8415275"/>
            <a:ext cx="6191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Exploration of a potential pilot collaboration / affiliation in Crete, with the aim of applying and evaluating the solution in a real-world environment.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/>
          <p:nvPr/>
        </p:nvSpPr>
        <p:spPr>
          <a:xfrm>
            <a:off x="819150" y="552450"/>
            <a:ext cx="1238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050"/>
              <a:buFont typeface="Barlow Condensed"/>
              <a:buNone/>
            </a:pPr>
            <a:r>
              <a:rPr b="1" lang="en-US" sz="40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OUR TEAM &amp; CONTACT</a:t>
            </a:r>
            <a:endParaRPr/>
          </a:p>
        </p:txBody>
      </p:sp>
      <p:cxnSp>
        <p:nvCxnSpPr>
          <p:cNvPr id="243" name="Google Shape;243;p12"/>
          <p:cNvCxnSpPr/>
          <p:nvPr/>
        </p:nvCxnSpPr>
        <p:spPr>
          <a:xfrm>
            <a:off x="819150" y="1304925"/>
            <a:ext cx="1123950" cy="0"/>
          </a:xfrm>
          <a:prstGeom prst="straightConnector1">
            <a:avLst/>
          </a:prstGeom>
          <a:noFill/>
          <a:ln cap="flat" cmpd="sng" w="4762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2"/>
          <p:cNvSpPr/>
          <p:nvPr/>
        </p:nvSpPr>
        <p:spPr>
          <a:xfrm>
            <a:off x="2190750" y="1047750"/>
            <a:ext cx="1200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B82"/>
              </a:buClr>
              <a:buSzPts val="1575"/>
              <a:buFont typeface="Inter"/>
              <a:buNone/>
            </a:pPr>
            <a:r>
              <a:rPr b="0" lang="en-US" sz="1575">
                <a:solidFill>
                  <a:srgbClr val="4A6B82"/>
                </a:solidFill>
                <a:latin typeface="Inter"/>
                <a:ea typeface="Inter"/>
                <a:cs typeface="Inter"/>
                <a:sym typeface="Inter"/>
              </a:rPr>
              <a:t>Meet the people building Road Safety Insights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16764000" y="6096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800"/>
              <a:buFont typeface="Barlow Condensed"/>
              <a:buNone/>
            </a:pPr>
            <a:r>
              <a:rPr b="1" lang="en-US" sz="1800">
                <a:solidFill>
                  <a:srgbClr val="3B7A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09</a:t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819150" y="1809750"/>
            <a:ext cx="11049000" cy="7143750"/>
          </a:xfrm>
          <a:prstGeom prst="roundRect">
            <a:avLst>
              <a:gd fmla="val 37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211" y="2133600"/>
            <a:ext cx="8964877" cy="649605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pic>
      <p:sp>
        <p:nvSpPr>
          <p:cNvPr id="248" name="Google Shape;248;p12"/>
          <p:cNvSpPr/>
          <p:nvPr/>
        </p:nvSpPr>
        <p:spPr>
          <a:xfrm>
            <a:off x="12477750" y="1809750"/>
            <a:ext cx="4991100" cy="7143750"/>
          </a:xfrm>
          <a:prstGeom prst="roundRect">
            <a:avLst>
              <a:gd fmla="val 53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13906500" y="2247900"/>
            <a:ext cx="2095500" cy="419100"/>
          </a:xfrm>
          <a:prstGeom prst="roundRect">
            <a:avLst>
              <a:gd fmla="val 50000" name="adj"/>
            </a:avLst>
          </a:prstGeom>
          <a:solidFill>
            <a:srgbClr val="FFF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14077950" y="2247900"/>
            <a:ext cx="1752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8590C"/>
                </a:solidFill>
                <a:latin typeface="Inter"/>
                <a:ea typeface="Inter"/>
                <a:cs typeface="Inter"/>
                <a:sym typeface="Inter"/>
              </a:rPr>
              <a:t>RSI LANDING PAGE</a:t>
            </a:r>
            <a:endParaRPr/>
          </a:p>
        </p:txBody>
      </p:sp>
      <p:pic>
        <p:nvPicPr>
          <p:cNvPr id="251" name="Google Shape;25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96900" y="3124200"/>
            <a:ext cx="33528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13049250" y="6896100"/>
            <a:ext cx="38290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Barlow Condensed"/>
              <a:buNone/>
            </a:pPr>
            <a:r>
              <a:rPr b="1" lang="en-US" sz="25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SCAN TO EXPLORE </a:t>
            </a:r>
            <a:endParaRPr b="1" sz="2550">
              <a:solidFill>
                <a:srgbClr val="0A254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Barlow Condensed"/>
              <a:buNone/>
            </a:pPr>
            <a:r>
              <a:rPr b="1" lang="en-US" sz="2550">
                <a:solidFill>
                  <a:srgbClr val="0A254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OUR LANDING PAGE</a:t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13335000" y="819150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A9E"/>
              </a:buClr>
              <a:buSzPts val="1350"/>
              <a:buFont typeface="Inter"/>
              <a:buNone/>
            </a:pPr>
            <a:r>
              <a:rPr b="1" lang="en-US" sz="1350">
                <a:solidFill>
                  <a:srgbClr val="3B7A9E"/>
                </a:solidFill>
                <a:latin typeface="Inter"/>
                <a:ea typeface="Inter"/>
                <a:cs typeface="Inter"/>
                <a:sym typeface="Inter"/>
              </a:rPr>
              <a:t>ROAD SAFETY INSIGHTS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